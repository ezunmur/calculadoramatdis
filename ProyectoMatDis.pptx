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79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0" r:id="rId14"/>
    <p:sldId id="281" r:id="rId1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8F9FF-8E1C-7A66-920A-2DCF96E1D10B}" v="10" dt="2023-09-04T23:00:09.550"/>
    <p1510:client id="{34405EF7-DB86-A3EE-9AF2-870305E7E08E}" v="459" dt="2023-09-03T23:13:00.297"/>
    <p1510:client id="{807F52B1-972E-55A2-0D13-2EDC3599ADDD}" v="330" dt="2023-09-04T23:32:22.193"/>
    <p1510:client id="{820C83A8-726D-5AFF-1903-A35CB1D8CC22}" v="103" dt="2023-09-05T00:04:15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A031A-6E5F-69F5-E259-BCEAB7EFF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9BA767-4561-EAB4-1BA6-6F98E8CEB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A6CE4D-3219-46B9-FA18-68B0CE5F4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AD2F6-ABFE-CCA5-D4DC-77A0E90D1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289C11-CA6E-2831-62C8-52CD85D0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5484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E32E0-3F9A-8CD3-5EB7-7546797C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60E00-A42B-8AED-664E-F627D011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AB1D5-255F-726C-E58D-BA25AF7B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343ADB-DCA3-7757-2A89-CDF8F891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D41820-A645-B2C3-3BC6-75E47A06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031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BB7AC-D1D6-D71F-825E-954853E0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5906CE-8909-1B25-9B34-18D77CFA4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C3E80A-8B05-4D72-AE28-A89A5953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7D9DAB-72AE-85FF-D50F-C7D74F3C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E2A088-9918-9EFD-827E-6FE505A7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606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E1632-7513-FF96-2A0E-8CE757F6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7FA9D-2D38-EB44-EF08-B8DC97D7B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6D31D5-C661-B67A-A171-5E150B7A0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33BFF1-3DBC-9FB1-A8DF-B9DB932D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A00278-15AC-463A-A853-EB2F0374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ED6EBC-0D6C-983D-D97C-6EF6EB59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543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069ED-9508-CE24-4B26-2F28E50A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A27677-6E11-5CEB-DAE0-B76FC76F8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4CF184-6422-76E2-4BCE-B29B36CE9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7F19EB-3E88-262D-69D0-26E36E7A4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6CD20B-DBD8-CB25-3CC4-2870BB1A3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5C3D47-D62E-74F9-5C0B-B4FBB128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6F3734-13F2-BB0B-0949-7DB7923D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A2DB3A-198E-A302-9BA2-99D3B9A4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8752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06D0F-B81E-D3F0-B82E-BD42F583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6D379D-5066-FB62-F8D6-560F8559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47B01A-1DC0-B335-8D63-C37DD567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51842E-E39F-91D2-D010-0A1BDE62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067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6DBBF8-AEAB-0ED8-AD0A-EB8921FC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F63A58-66A9-B818-68A0-8625CBE1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58D29F-51F8-81F5-CE4F-5828D436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795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6A902-A024-911A-A436-ACD46995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55622D-CB6E-D68B-E682-EA6D2671F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C7FA12-CB8A-EA2B-8226-E4A6C5651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D94976-AC13-929B-1147-214255050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114F55-1A61-11E9-7467-54ECC682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02B85F-5FD0-2D76-EE3F-661CA1D7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5053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90591-2D6C-0BF2-9ED7-16708B83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257BA1-4116-DB47-2D8F-B11361DF0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98208F-4EEF-3ACC-FF7A-26CC6872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A05773-18F4-A5A1-1D9E-6E37D6C3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7D1A6-D878-573C-2FDE-9113258B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52D266-B250-922C-8AE0-19649072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9316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82E1A-8629-C6C6-CF84-8F84DC97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2EF155-B0FC-072D-F20B-C2582468C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3B495A-C336-16E5-61B8-B99B568E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83056A-445F-DFFC-B0AC-556FBBF1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2D6C4A-21D5-51D9-BCF3-8C85377D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555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1C9803-CAA1-7120-1255-8776B7223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34D4F9-872C-F1BA-ACB6-1124194E3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D96515-F6BC-31EF-7BA3-55BA7986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5DF6E8-2C32-39FD-3D6C-3175F402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048F06-0214-B96D-6B6B-77F82DB8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612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3BDD6F-90CB-761C-5C22-1EA656F3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CC2F17-56CA-7C76-9E29-B1D0B9992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F8AF8-F7F6-DF52-BC3E-C7DF35BD7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C4D3C-888F-45B1-8531-A805B67AA41F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67B856-E8EF-66D7-0F06-BB6EC5F23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08BD9-5F43-8DF6-0679-DCDA25E27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60EF5-38FC-44FD-865F-867011F94BBD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331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5964A2F-1091-DF9A-BBE1-623E0B99F1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F15308-A950-8083-7195-C9DE84D5FA5A}"/>
              </a:ext>
            </a:extLst>
          </p:cNvPr>
          <p:cNvSpPr txBox="1"/>
          <p:nvPr/>
        </p:nvSpPr>
        <p:spPr>
          <a:xfrm>
            <a:off x="1251284" y="3533528"/>
            <a:ext cx="6272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dirty="0"/>
              <a:t>SIMULADOR DE CRÉDITO BANCARIO MEDIANTE RECURRENCIA LINEAL:  </a:t>
            </a:r>
          </a:p>
          <a:p>
            <a:pPr algn="r"/>
            <a:r>
              <a:rPr lang="es-ES" sz="1400" dirty="0"/>
              <a:t>TABLA DE AMORTIZACIÓN Y ANÁLISIS GRÁFICO DE CAPITAL. 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7A767-4537-D5A6-C989-DCE55A1ABAFE}"/>
              </a:ext>
            </a:extLst>
          </p:cNvPr>
          <p:cNvSpPr txBox="1"/>
          <p:nvPr/>
        </p:nvSpPr>
        <p:spPr>
          <a:xfrm>
            <a:off x="0" y="1433017"/>
            <a:ext cx="75237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b="1" dirty="0"/>
              <a:t>La amortizaci</a:t>
            </a:r>
            <a:r>
              <a:rPr lang="es-EC" sz="6000" b="1" dirty="0"/>
              <a:t>ón como recurrencia lineal</a:t>
            </a:r>
            <a:endParaRPr lang="en-US" sz="60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6EFE82-E36C-F63E-678B-FA66A0308B88}"/>
              </a:ext>
            </a:extLst>
          </p:cNvPr>
          <p:cNvCxnSpPr>
            <a:cxnSpLocks/>
          </p:cNvCxnSpPr>
          <p:nvPr/>
        </p:nvCxnSpPr>
        <p:spPr>
          <a:xfrm>
            <a:off x="0" y="3434564"/>
            <a:ext cx="8571345" cy="0"/>
          </a:xfrm>
          <a:prstGeom prst="line">
            <a:avLst/>
          </a:prstGeom>
          <a:ln w="22225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D1A89E76-2A01-8297-7FD2-7706D504CE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3747" y="2026030"/>
            <a:ext cx="985405" cy="9854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1BAE6E-8EDF-63F3-5D48-F04347CCEF1E}"/>
              </a:ext>
            </a:extLst>
          </p:cNvPr>
          <p:cNvSpPr txBox="1"/>
          <p:nvPr/>
        </p:nvSpPr>
        <p:spPr>
          <a:xfrm>
            <a:off x="0" y="5315189"/>
            <a:ext cx="58853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HECHO POR: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VILLEGAS PAZMIÑO LUIS GREGORIO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ZUÑIGA MURILLO EZEQUIEL ALFREDO</a:t>
            </a:r>
            <a:endParaRPr lang="es-ES" sz="1400" dirty="0"/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0639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D34F-8419-FF59-521B-F95F3935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D6E5FFB-AEC6-008A-AA5E-8E575035C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sp>
        <p:nvSpPr>
          <p:cNvPr id="101" name="Badge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1371600" y="457200"/>
            <a:ext cx="9902952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3200" b="1" dirty="0">
                <a:solidFill>
                  <a:srgbClr val="663586"/>
                </a:solidFill>
                <a:latin typeface="Calibri"/>
              </a:rPr>
              <a:t>La historia de Edgar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640080" y="1645920"/>
            <a:ext cx="5029200" cy="43484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spcAft>
                <a:spcPts val="1400"/>
              </a:spcAft>
            </a:pPr>
            <a:r>
              <a:rPr lang="es-ES" sz="1800" b="0" i="0" dirty="0">
                <a:solidFill>
                  <a:srgbClr val="2B2233"/>
                </a:solidFill>
                <a:latin typeface="Calibri"/>
              </a:rPr>
              <a:t>El es Edgar, persona honesta, trabajadora y dedicado completamente a su </a:t>
            </a:r>
            <a:r>
              <a:rPr lang="es-ES" dirty="0">
                <a:solidFill>
                  <a:srgbClr val="2B2233"/>
                </a:solidFill>
                <a:latin typeface="Calibri"/>
              </a:rPr>
              <a:t>familia.</a:t>
            </a:r>
          </a:p>
          <a:p>
            <a:pPr algn="l">
              <a:spcAft>
                <a:spcPts val="1400"/>
              </a:spcAft>
            </a:pPr>
            <a:r>
              <a:rPr lang="es-ES" sz="1800" b="0" i="0" dirty="0">
                <a:solidFill>
                  <a:srgbClr val="2B2233"/>
                </a:solidFill>
                <a:latin typeface="Calibri"/>
              </a:rPr>
              <a:t>Un día, Edgar decidió dar el paso de solicitar un préstamo al banco para poder adquirir su casa y vivir tranquilo con su familia.</a:t>
            </a:r>
          </a:p>
          <a:p>
            <a:pPr algn="l">
              <a:spcAft>
                <a:spcPts val="1400"/>
              </a:spcAft>
            </a:pPr>
            <a:r>
              <a:rPr lang="es-ES" sz="1800" b="0" i="0" dirty="0">
                <a:solidFill>
                  <a:srgbClr val="2B2233"/>
                </a:solidFill>
                <a:latin typeface="Calibri"/>
              </a:rPr>
              <a:t>Cada mes pagaba su cuota religiosamente... pero cuando intentó calcular cuánto le faltaba</a:t>
            </a:r>
            <a:r>
              <a:rPr lang="es-ES" dirty="0">
                <a:solidFill>
                  <a:srgbClr val="2B2233"/>
                </a:solidFill>
                <a:latin typeface="Calibri"/>
              </a:rPr>
              <a:t> para pagar</a:t>
            </a:r>
            <a:r>
              <a:rPr lang="es-ES" sz="1800" b="0" i="0" dirty="0">
                <a:solidFill>
                  <a:srgbClr val="2B2233"/>
                </a:solidFill>
                <a:latin typeface="Calibri"/>
              </a:rPr>
              <a:t>, algo no le cuadraba.</a:t>
            </a:r>
          </a:p>
          <a:p>
            <a:pPr algn="l">
              <a:spcAft>
                <a:spcPts val="0"/>
              </a:spcAft>
            </a:pPr>
            <a:r>
              <a:rPr lang="es-ES" sz="1900" b="1" i="1" dirty="0">
                <a:solidFill>
                  <a:srgbClr val="4B2564"/>
                </a:solidFill>
                <a:latin typeface="Calibri"/>
              </a:rPr>
              <a:t>¿Le estaban cobrando de más?</a:t>
            </a:r>
          </a:p>
          <a:p>
            <a:pPr algn="l">
              <a:spcAft>
                <a:spcPts val="0"/>
              </a:spcAft>
            </a:pPr>
            <a:endParaRPr lang="es-ES" sz="1900" b="1" i="1" dirty="0">
              <a:solidFill>
                <a:srgbClr val="4B2564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es-ES" sz="1900" b="1" i="1" dirty="0">
                <a:solidFill>
                  <a:srgbClr val="4B2564"/>
                </a:solidFill>
                <a:latin typeface="Calibri"/>
              </a:rPr>
              <a:t>¿Existían valores que no estaban en el rubro de lo acordado con el banco?</a:t>
            </a:r>
          </a:p>
          <a:p>
            <a:pPr algn="l">
              <a:spcAft>
                <a:spcPts val="0"/>
              </a:spcAft>
            </a:pPr>
            <a:endParaRPr lang="es-ES" sz="1900" b="1" i="1" dirty="0">
              <a:solidFill>
                <a:srgbClr val="4B2564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es-ES" sz="1900" b="1" i="1" dirty="0">
                <a:solidFill>
                  <a:srgbClr val="4B2564"/>
                </a:solidFill>
                <a:latin typeface="Calibri"/>
              </a:rPr>
              <a:t>¿Le estaban cobrando algún “IVA de la amistad” que no se discutió durante la firma del acuerdo de pago?</a:t>
            </a:r>
          </a:p>
          <a:p>
            <a:pPr algn="l">
              <a:spcAft>
                <a:spcPts val="0"/>
              </a:spcAft>
            </a:pPr>
            <a:r>
              <a:rPr lang="es-ES" sz="1900" b="1" i="1" dirty="0">
                <a:solidFill>
                  <a:srgbClr val="4B2564"/>
                </a:solidFill>
                <a:latin typeface="Calibri"/>
              </a:rPr>
              <a:t>  </a:t>
            </a:r>
          </a:p>
          <a:p>
            <a:pPr algn="l">
              <a:spcAft>
                <a:spcPts val="0"/>
              </a:spcAft>
            </a:pPr>
            <a:r>
              <a:rPr lang="es-ES" sz="1900" b="1" i="1" dirty="0">
                <a:solidFill>
                  <a:srgbClr val="4B2564"/>
                </a:solidFill>
                <a:latin typeface="Calibri"/>
              </a:rPr>
              <a:t>Edgar no tenía forma de comprobarlo.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815397-87A2-7CE7-4611-4FCBD6DF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80160"/>
            <a:ext cx="4860758" cy="2734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C805C5-7096-8043-7CCD-63DFC2F18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59068">
            <a:off x="8325658" y="3230320"/>
            <a:ext cx="3437312" cy="193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9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5964A2F-1091-DF9A-BBE1-623E0B99F1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DD270F53-1E4E-A2B6-E10A-76DEFA74A46F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Badge"/>
          <p:cNvSpPr/>
          <p:nvPr/>
        </p:nvSpPr>
        <p:spPr>
          <a:xfrm>
            <a:off x="457200" y="237744"/>
            <a:ext cx="457200" cy="45720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6" name="Title"/>
          <p:cNvSpPr txBox="1"/>
          <p:nvPr/>
        </p:nvSpPr>
        <p:spPr>
          <a:xfrm>
            <a:off x="1051560" y="1828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2600" b="1" dirty="0">
                <a:solidFill>
                  <a:srgbClr val="663586"/>
                </a:solidFill>
                <a:latin typeface="Calibri"/>
              </a:rPr>
              <a:t>¿Cómo comprobarlo a mano?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C756A-0F45-DF26-3CCE-862BEFD2D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527" y="1814595"/>
            <a:ext cx="8571345" cy="3231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BB768C-A173-55DA-410F-3700164CB343}"/>
              </a:ext>
            </a:extLst>
          </p:cNvPr>
          <p:cNvSpPr txBox="1"/>
          <p:nvPr/>
        </p:nvSpPr>
        <p:spPr>
          <a:xfrm>
            <a:off x="2288308" y="5426764"/>
            <a:ext cx="7767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lang="es-ES" i="1" dirty="0">
                <a:solidFill>
                  <a:srgbClr val="2B2233"/>
                </a:solidFill>
                <a:latin typeface="Calibri"/>
              </a:rPr>
              <a:t>Vea por donde lo vea, Edgar no entendía el por qué de los rubros del banco. . .</a:t>
            </a:r>
            <a:endParaRPr lang="es-ES" sz="1800" i="1" dirty="0">
              <a:solidFill>
                <a:srgbClr val="2B22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66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E4C8-2AEE-1879-D0F7-37E3EAA3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2DC7BA7-98EA-6CF7-7010-5EE543F6A8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207D7846-A05C-64C8-590B-BE816226D917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itle"/>
          <p:cNvSpPr txBox="1"/>
          <p:nvPr/>
        </p:nvSpPr>
        <p:spPr>
          <a:xfrm>
            <a:off x="640080" y="182880"/>
            <a:ext cx="1090879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S" sz="2800" b="1" dirty="0">
                <a:solidFill>
                  <a:srgbClr val="663586"/>
                </a:solidFill>
                <a:latin typeface="Calibri"/>
              </a:rPr>
              <a:t>Escanea y sigue con nosotros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B4675-8853-AD19-B85D-146810DE4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95" y="1102995"/>
            <a:ext cx="4652010" cy="465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7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FE7C3-C14C-466D-EF95-BD60B878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DAFE577-EAA9-457B-F3C3-1BB66875B3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0E28FE45-8181-0B7E-DABF-55BDCC1CDC2E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Badge"/>
          <p:cNvSpPr/>
          <p:nvPr/>
        </p:nvSpPr>
        <p:spPr>
          <a:xfrm>
            <a:off x="457200" y="237744"/>
            <a:ext cx="457200" cy="45720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3" name="Title"/>
          <p:cNvSpPr txBox="1"/>
          <p:nvPr/>
        </p:nvSpPr>
        <p:spPr>
          <a:xfrm>
            <a:off x="1051560" y="1828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2600" b="1" dirty="0">
                <a:solidFill>
                  <a:srgbClr val="663586"/>
                </a:solidFill>
                <a:latin typeface="Calibri"/>
              </a:rPr>
              <a:t>Interés compuesto: Nada más que una recurrencia lineal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FormulaChip"/>
              <p:cNvSpPr/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FÓRMULA FINANCIERA</a:t>
                </a: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p>
                        <m:sSup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  <m:sup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Monto acumulado tras t periodos</a:t>
                </a:r>
              </a:p>
            </p:txBody>
          </p:sp>
        </mc:Choice>
        <mc:Fallback>
          <p:sp>
            <p:nvSpPr>
              <p:cNvPr id="115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FormulaChip"/>
              <p:cNvSpPr/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EQUIVALENTE MATEMÁTICAS DISCRETAS </a:t>
                </a: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1700" b="1" i="1" dirty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700" b="1" i="1" dirty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700" b="1" i="1" dirty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14:m/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Relación de recurrencia lineal de primer orden, con F(0) = P</a:t>
                </a:r>
              </a:p>
            </p:txBody>
          </p:sp>
        </mc:Choice>
        <mc:Fallback>
          <p:sp>
            <p:nvSpPr>
              <p:cNvPr id="116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872BFE1-6D5F-2CFC-198D-A90971A551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1046955"/>
            <a:ext cx="4061943" cy="50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3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524D-C54F-BE30-C6CA-DA7FCEBB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B80DCD3-8140-3FFF-8247-944BA727E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E6A858EF-A786-EB5B-7900-BB2DF28808CF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Badge"/>
          <p:cNvSpPr/>
          <p:nvPr/>
        </p:nvSpPr>
        <p:spPr>
          <a:xfrm>
            <a:off x="457200" y="237744"/>
            <a:ext cx="457200" cy="45720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8" name="Title"/>
          <p:cNvSpPr txBox="1"/>
          <p:nvPr/>
        </p:nvSpPr>
        <p:spPr>
          <a:xfrm>
            <a:off x="1051560" y="1828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2800" b="1" dirty="0">
                <a:solidFill>
                  <a:srgbClr val="663586"/>
                </a:solidFill>
                <a:latin typeface="Calibri"/>
              </a:rPr>
              <a:t>Tasas equivalentes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FormulaChip"/>
              <p:cNvSpPr/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FÓRMULA FINANCIERA</a:t>
                </a: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sup>
                      </m:sSup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500"/>
                  </a:spcBef>
                </a:pPr>
                <a:endParaRPr lang="es-ES" sz="1050" dirty="0">
                  <a:solidFill>
                    <a:srgbClr val="5B4E6B"/>
                  </a:solidFill>
                  <a:latin typeface="Calibri"/>
                </a:endParaRPr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Tasa equivalente para m capitalizaciones</a:t>
                </a:r>
              </a:p>
            </p:txBody>
          </p:sp>
        </mc:Choice>
        <mc:Fallback>
          <p:sp>
            <p:nvSpPr>
              <p:cNvPr id="120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FormulaChip"/>
              <p:cNvSpPr/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EQUIVALENTE </a:t>
                </a:r>
                <a:r>
                  <a:rPr lang="es-ES" sz="1050" b="1" dirty="0">
                    <a:solidFill>
                      <a:srgbClr val="663586"/>
                    </a:solidFill>
                  </a:rPr>
                  <a:t>MATEMÁTICAS DISCRETAS </a:t>
                </a:r>
              </a:p>
              <a:p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  <m:sub>
                                  <m: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14:m/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Cambio de base (paso) de la misma recurrencia</a:t>
                </a:r>
              </a:p>
            </p:txBody>
          </p:sp>
        </mc:Choice>
        <mc:Fallback>
          <p:sp>
            <p:nvSpPr>
              <p:cNvPr id="121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180B732-F3C5-92BA-9DEB-89CCB6327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1" y="1591056"/>
            <a:ext cx="6060289" cy="39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1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D008-2FFB-7F6B-AED5-AA51D202C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CD5E636-A1B4-8EAE-DF63-381F697FC1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865EA42E-DE07-D22E-B969-F9F0CF7897DB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Badge"/>
          <p:cNvSpPr/>
          <p:nvPr/>
        </p:nvSpPr>
        <p:spPr>
          <a:xfrm>
            <a:off x="457200" y="237744"/>
            <a:ext cx="457200" cy="45720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3" name="Title"/>
          <p:cNvSpPr txBox="1"/>
          <p:nvPr/>
        </p:nvSpPr>
        <p:spPr>
          <a:xfrm>
            <a:off x="1051560" y="1828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2800" b="1" dirty="0">
                <a:solidFill>
                  <a:srgbClr val="663586"/>
                </a:solidFill>
                <a:latin typeface="Calibri"/>
              </a:rPr>
              <a:t>La recurrencia de la deuda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FormulaChip"/>
              <p:cNvSpPr/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CUOTA FIJA (SISTEMA FRANCÉS)</a:t>
                </a: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ES" sz="1700" b="1" i="1" dirty="0" smtClean="0">
                                      <a:solidFill>
                                        <a:srgbClr val="2B22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700" b="1" i="1" dirty="0" smtClean="0">
                                  <a:solidFill>
                                    <a:srgbClr val="2B223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C" sz="1700" b="1" dirty="0">
                  <a:solidFill>
                    <a:srgbClr val="2B2233"/>
                  </a:solidFill>
                  <a:latin typeface="Cambria"/>
                </a:endParaRPr>
              </a:p>
              <a:p>
                <a:pPr algn="l">
                  <a:spcBef>
                    <a:spcPts val="400"/>
                  </a:spcBef>
                </a:pPr>
                <a:endParaRPr lang="es-ES" sz="1700" b="1" dirty="0">
                  <a:solidFill>
                    <a:srgbClr val="2B2233"/>
                  </a:solidFill>
                  <a:latin typeface="Cambria"/>
                </a:endParaRPr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Se deriva de una serie geométrica finita</a:t>
                </a:r>
              </a:p>
            </p:txBody>
          </p:sp>
        </mc:Choice>
        <mc:Fallback>
          <p:sp>
            <p:nvSpPr>
              <p:cNvPr id="125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FormulaChip"/>
              <p:cNvSpPr/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SALDO DE LA DEUDA</a:t>
                </a: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14:m/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Ecuación en diferencias de primer orden, S(0) = P</a:t>
                </a:r>
              </a:p>
            </p:txBody>
          </p:sp>
        </mc:Choice>
        <mc:Fallback>
          <p:sp>
            <p:nvSpPr>
              <p:cNvPr id="126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7C8FB33-2625-ED3F-C097-7A20E7CC8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54" y="964659"/>
            <a:ext cx="4176182" cy="52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81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90069-2EC1-E07A-8120-5A9A0B28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BD538D4-72C6-AEA0-C6DD-43302CA03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53D7B2AC-FF89-8663-A010-1AB86A4CE787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Badge"/>
          <p:cNvSpPr/>
          <p:nvPr/>
        </p:nvSpPr>
        <p:spPr>
          <a:xfrm>
            <a:off x="457200" y="237744"/>
            <a:ext cx="457200" cy="45720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8" name="Title"/>
          <p:cNvSpPr txBox="1"/>
          <p:nvPr/>
        </p:nvSpPr>
        <p:spPr>
          <a:xfrm>
            <a:off x="1051560" y="1828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2500" b="1" dirty="0">
                <a:solidFill>
                  <a:srgbClr val="663586"/>
                </a:solidFill>
                <a:latin typeface="Calibri"/>
              </a:rPr>
              <a:t>Demo en vivo: el préstamo de Edgar</a:t>
            </a:r>
          </a:p>
        </p:txBody>
      </p:sp>
      <p:sp>
        <p:nvSpPr>
          <p:cNvPr id="129" name="Subtitle"/>
          <p:cNvSpPr txBox="1"/>
          <p:nvPr/>
        </p:nvSpPr>
        <p:spPr>
          <a:xfrm>
            <a:off x="1051560" y="914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1300" i="1" dirty="0">
                <a:solidFill>
                  <a:srgbClr val="5B4E6B"/>
                </a:solidFill>
                <a:latin typeface="Calibri"/>
              </a:rPr>
              <a:t>Sistema francés vs. alemán — misma deuda, dos trayectorias distintas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8FE254-41A9-FC0E-C7E9-2AFA467659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480"/>
          <a:stretch>
            <a:fillRect/>
          </a:stretch>
        </p:blipFill>
        <p:spPr>
          <a:xfrm>
            <a:off x="128391" y="1988076"/>
            <a:ext cx="6043809" cy="3356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45867C-2602-1964-2F06-A49ACDA37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82" y="1988076"/>
            <a:ext cx="5216389" cy="335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1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EC54-E70F-D7C7-17BC-D1816CAD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CE79F1A-C3EF-0B34-B9DF-44969080A0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F7B111E0-DF5F-47E3-0514-EF9A71648928}"/>
              </a:ext>
            </a:extLst>
          </p:cNvPr>
          <p:cNvCxnSpPr>
            <a:cxnSpLocks/>
          </p:cNvCxnSpPr>
          <p:nvPr/>
        </p:nvCxnSpPr>
        <p:spPr>
          <a:xfrm>
            <a:off x="0" y="870949"/>
            <a:ext cx="12192000" cy="0"/>
          </a:xfrm>
          <a:prstGeom prst="line">
            <a:avLst/>
          </a:prstGeom>
          <a:ln w="76200">
            <a:solidFill>
              <a:srgbClr val="5F2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Badge"/>
          <p:cNvSpPr/>
          <p:nvPr/>
        </p:nvSpPr>
        <p:spPr>
          <a:xfrm>
            <a:off x="457200" y="237744"/>
            <a:ext cx="457200" cy="45720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2" name="Title"/>
          <p:cNvSpPr txBox="1"/>
          <p:nvPr/>
        </p:nvSpPr>
        <p:spPr>
          <a:xfrm>
            <a:off x="1051560" y="1828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2600" b="1" dirty="0">
                <a:solidFill>
                  <a:srgbClr val="663586"/>
                </a:solidFill>
                <a:latin typeface="Calibri"/>
              </a:rPr>
              <a:t>¿Y si Edgar abona un poco más?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FormulaChip"/>
              <p:cNvSpPr/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IMPACTO DEL ABONO EXTRA</a:t>
                </a: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−&gt;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𝑨𝒃𝒐𝒏𝒐</m:t>
                      </m:r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14:m/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El préstamo se termina antes de lo previsto</a:t>
                </a:r>
              </a:p>
            </p:txBody>
          </p:sp>
        </mc:Choice>
        <mc:Fallback>
          <p:sp>
            <p:nvSpPr>
              <p:cNvPr id="134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1188720"/>
                <a:ext cx="5010912" cy="196596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FormulaChip"/>
              <p:cNvSpPr/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solidFill>
                <a:srgbClr val="F1EAF8"/>
              </a:solidFill>
              <a:ln>
                <a:noFill/>
              </a:ln>
            </p:spPr>
            <p:txBody>
              <a:bodyPr wrap="square" lIns="155000" tIns="110000" rIns="155000" bIns="110000" anchor="t">
                <a:normAutofit/>
              </a:bodyPr>
              <a:lstStyle/>
              <a:p>
                <a:pPr algn="l"/>
                <a:r>
                  <a:rPr lang="es-ES" sz="1050" b="1" dirty="0">
                    <a:solidFill>
                      <a:srgbClr val="663586"/>
                    </a:solidFill>
                    <a:latin typeface="Calibri"/>
                  </a:rPr>
                  <a:t>PERTURBACIÓN PUNTUAL</a:t>
                </a: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/>
                <a:endParaRPr lang="es-ES" sz="1050" b="1" dirty="0">
                  <a:solidFill>
                    <a:srgbClr val="663586"/>
                  </a:solidFill>
                  <a:latin typeface="Calibri"/>
                </a:endParaRPr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∗−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700" b="1" i="1" dirty="0" smtClean="0">
                              <a:solidFill>
                                <a:srgbClr val="2B223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s-ES" sz="1700" b="1" i="1" dirty="0" smtClean="0">
                          <a:solidFill>
                            <a:srgbClr val="2B2233"/>
                          </a:solidFill>
                          <a:latin typeface="Cambria Math" panose="02040503050406030204" pitchFamily="18" charset="0"/>
                        </a:rPr>
                        <m:t>𝑨𝒃𝒐𝒏𝒐</m:t>
                      </m:r>
                    </m:oMath>
                  </m:oMathPara>
                </a14:m>
                <a:endParaRPr lang="es-EC" sz="1700" b="1" i="1" dirty="0">
                  <a:solidFill>
                    <a:srgbClr val="2B2233"/>
                  </a:solidFill>
                  <a:latin typeface="Cambria Math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14:m/>
              </a:p>
              <a:p>
                <a:pPr algn="l">
                  <a:spcBef>
                    <a:spcPts val="500"/>
                  </a:spcBef>
                </a:pPr>
                <a:r>
                  <a:rPr lang="es-ES" sz="1050" dirty="0">
                    <a:solidFill>
                      <a:srgbClr val="5B4E6B"/>
                    </a:solidFill>
                    <a:latin typeface="Calibri"/>
                  </a:rPr>
                  <a:t>Un cambio local altera toda la trayectoria futura</a:t>
                </a:r>
              </a:p>
            </p:txBody>
          </p:sp>
        </mc:Choice>
        <mc:Fallback>
          <p:sp>
            <p:nvSpPr>
              <p:cNvPr id="135" name="FormulaChi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3383280"/>
                <a:ext cx="5010912" cy="237744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63E340-D17E-8F2B-355F-5B477450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918" y="1134978"/>
            <a:ext cx="4139245" cy="483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4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D34F-8419-FF59-521B-F95F3935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D6E5FFB-AEC6-008A-AA5E-8E575035C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sp>
        <p:nvSpPr>
          <p:cNvPr id="136" name="Badge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66358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37" name="Title"/>
          <p:cNvSpPr txBox="1"/>
          <p:nvPr/>
        </p:nvSpPr>
        <p:spPr>
          <a:xfrm>
            <a:off x="1371600" y="457200"/>
            <a:ext cx="990295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S" sz="3200" b="1" dirty="0">
                <a:solidFill>
                  <a:srgbClr val="663586"/>
                </a:solidFill>
                <a:latin typeface="Calibri"/>
              </a:rPr>
              <a:t>Más allá del préstamo</a:t>
            </a:r>
          </a:p>
        </p:txBody>
      </p:sp>
      <p:sp>
        <p:nvSpPr>
          <p:cNvPr id="138" name="Bullets"/>
          <p:cNvSpPr txBox="1"/>
          <p:nvPr/>
        </p:nvSpPr>
        <p:spPr>
          <a:xfrm>
            <a:off x="640080" y="169784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 algn="l">
              <a:buFont typeface="Arial"/>
              <a:buChar char="•"/>
            </a:pPr>
            <a:r>
              <a:rPr lang="es-ES" sz="1600" dirty="0">
                <a:solidFill>
                  <a:srgbClr val="2B2233"/>
                </a:solidFill>
                <a:latin typeface="Calibri"/>
              </a:rPr>
              <a:t>Banco de ejercicios generados automáticamente</a:t>
            </a:r>
          </a:p>
          <a:p>
            <a:pPr algn="l"/>
            <a:endParaRPr lang="es-ES" sz="1600" dirty="0">
              <a:solidFill>
                <a:srgbClr val="2B2233"/>
              </a:solidFill>
              <a:latin typeface="Calibri"/>
            </a:endParaRPr>
          </a:p>
          <a:p>
            <a:pPr marL="228600" indent="-228600" algn="l">
              <a:buFont typeface="Arial"/>
              <a:buChar char="•"/>
            </a:pPr>
            <a:r>
              <a:rPr lang="es-ES" sz="1600" dirty="0">
                <a:solidFill>
                  <a:srgbClr val="2B2233"/>
                </a:solidFill>
                <a:latin typeface="Calibri"/>
              </a:rPr>
              <a:t>Simulador de metas de ahorro</a:t>
            </a:r>
          </a:p>
          <a:p>
            <a:pPr algn="l"/>
            <a:endParaRPr lang="es-ES" sz="1600" dirty="0">
              <a:solidFill>
                <a:srgbClr val="2B2233"/>
              </a:solidFill>
              <a:latin typeface="Calibri"/>
            </a:endParaRPr>
          </a:p>
          <a:p>
            <a:pPr marL="228600" indent="-228600" algn="l">
              <a:buFont typeface="Arial"/>
              <a:buChar char="•"/>
            </a:pPr>
            <a:r>
              <a:rPr lang="es-ES" sz="1600" dirty="0">
                <a:solidFill>
                  <a:srgbClr val="2B2233"/>
                </a:solidFill>
                <a:latin typeface="Calibri"/>
              </a:rPr>
              <a:t>Mismo motor de recurrencias aplicado a otros escenarios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76820-8D56-3F05-EF76-839DC82E4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766" y="158997"/>
            <a:ext cx="3724154" cy="4952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730AB5-B832-EB70-714D-90A5D3BAB1E3}"/>
              </a:ext>
            </a:extLst>
          </p:cNvPr>
          <p:cNvSpPr txBox="1"/>
          <p:nvPr/>
        </p:nvSpPr>
        <p:spPr>
          <a:xfrm>
            <a:off x="11958321" y="3220137"/>
            <a:ext cx="96217" cy="192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7D90F-AE5E-2E96-5148-4FDFD3D59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165" y="3429000"/>
            <a:ext cx="3504276" cy="223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92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D34F-8419-FF59-521B-F95F3935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D6E5FFB-AEC6-008A-AA5E-8E575035C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454" b="4635"/>
          <a:stretch/>
        </p:blipFill>
        <p:spPr>
          <a:xfrm>
            <a:off x="0" y="6176963"/>
            <a:ext cx="12192000" cy="700308"/>
          </a:xfrm>
          <a:prstGeom prst="rect">
            <a:avLst/>
          </a:prstGeom>
        </p:spPr>
      </p:pic>
      <p:sp>
        <p:nvSpPr>
          <p:cNvPr id="140" name="Title"/>
          <p:cNvSpPr txBox="1"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S" sz="2600" b="1" dirty="0">
                <a:solidFill>
                  <a:srgbClr val="663586"/>
                </a:solidFill>
                <a:latin typeface="Calibri"/>
              </a:rPr>
              <a:t>Conclusión</a:t>
            </a:r>
          </a:p>
        </p:txBody>
      </p:sp>
      <p:sp>
        <p:nvSpPr>
          <p:cNvPr id="141" name="Band"/>
          <p:cNvSpPr/>
          <p:nvPr/>
        </p:nvSpPr>
        <p:spPr>
          <a:xfrm>
            <a:off x="1005840" y="1965960"/>
            <a:ext cx="10177272" cy="2331720"/>
          </a:xfrm>
          <a:prstGeom prst="roundRect">
            <a:avLst>
              <a:gd name="adj" fmla="val 6000"/>
            </a:avLst>
          </a:prstGeom>
          <a:solidFill>
            <a:srgbClr val="6635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2" name="Quote"/>
          <p:cNvSpPr txBox="1"/>
          <p:nvPr/>
        </p:nvSpPr>
        <p:spPr>
          <a:xfrm>
            <a:off x="1371600" y="2194560"/>
            <a:ext cx="9445752" cy="18745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s-ES" sz="2200" b="1" i="1" dirty="0">
                <a:solidFill>
                  <a:srgbClr val="FFFFFF"/>
                </a:solidFill>
                <a:latin typeface="Calibri"/>
              </a:rPr>
              <a:t>Cada fila de la tabla no es magia ni ningún truco financiero barato: </a:t>
            </a:r>
          </a:p>
          <a:p>
            <a:pPr algn="ctr"/>
            <a:r>
              <a:rPr lang="es-ES" sz="2200" b="1" i="1" dirty="0">
                <a:solidFill>
                  <a:srgbClr val="FFFFFF"/>
                </a:solidFill>
                <a:latin typeface="Calibri"/>
              </a:rPr>
              <a:t>Es una recurrencia discreta resuelta paso a paso.</a:t>
            </a:r>
          </a:p>
        </p:txBody>
      </p:sp>
      <p:sp>
        <p:nvSpPr>
          <p:cNvPr id="143" name="Subtitle"/>
          <p:cNvSpPr txBox="1"/>
          <p:nvPr/>
        </p:nvSpPr>
        <p:spPr>
          <a:xfrm>
            <a:off x="1371600" y="461772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S" sz="1400" i="1" dirty="0">
                <a:solidFill>
                  <a:srgbClr val="5B4E6B"/>
                </a:solidFill>
                <a:latin typeface="Calibri"/>
              </a:rPr>
              <a:t>Con esta herramienta, Edgar podría verificar su préstamo en segundos, con la certeza que aporta la matemática discreta.</a:t>
            </a:r>
          </a:p>
        </p:txBody>
      </p:sp>
    </p:spTree>
    <p:extLst>
      <p:ext uri="{BB962C8B-B14F-4D97-AF65-F5344CB8AC3E}">
        <p14:creationId xmlns:p14="http://schemas.microsoft.com/office/powerpoint/2010/main" val="3090992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967FF1E20EF24C9DE80B9F523E2335" ma:contentTypeVersion="15" ma:contentTypeDescription="Crear nuevo documento." ma:contentTypeScope="" ma:versionID="e94889c3d540a40c45e4b0e33d6893e6">
  <xsd:schema xmlns:xsd="http://www.w3.org/2001/XMLSchema" xmlns:xs="http://www.w3.org/2001/XMLSchema" xmlns:p="http://schemas.microsoft.com/office/2006/metadata/properties" xmlns:ns3="bf05f131-b4fa-463c-aa8b-367f446a57c4" xmlns:ns4="c30271ce-0c62-4d82-b516-3e9df8a6ca19" targetNamespace="http://schemas.microsoft.com/office/2006/metadata/properties" ma:root="true" ma:fieldsID="8623bd72cad194c6f33647014513bafd" ns3:_="" ns4:_="">
    <xsd:import namespace="bf05f131-b4fa-463c-aa8b-367f446a57c4"/>
    <xsd:import namespace="c30271ce-0c62-4d82-b516-3e9df8a6ca1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5f131-b4fa-463c-aa8b-367f446a5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0271ce-0c62-4d82-b516-3e9df8a6ca1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05f131-b4fa-463c-aa8b-367f446a57c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CC8FD8-7DB7-42F4-9E82-D728D8ECA0A1}">
  <ds:schemaRefs>
    <ds:schemaRef ds:uri="bf05f131-b4fa-463c-aa8b-367f446a57c4"/>
    <ds:schemaRef ds:uri="c30271ce-0c62-4d82-b516-3e9df8a6ca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4EC6CA-FAE7-4BE2-85E9-6324378243FD}">
  <ds:schemaRefs>
    <ds:schemaRef ds:uri="bf05f131-b4fa-463c-aa8b-367f446a57c4"/>
    <ds:schemaRef ds:uri="c30271ce-0c62-4d82-b516-3e9df8a6ca1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F583FC3-DFAE-4CD5-9488-04CCD6F63C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461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Cambria Math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de Poisson no Homogéneo aplicado en accidentes de tránsito en la vía perimetral de la ciudad de Guayaquil 2019</dc:title>
  <dc:creator>Laura Del Carmen</dc:creator>
  <cp:lastModifiedBy>Ezequiel Z</cp:lastModifiedBy>
  <cp:revision>6</cp:revision>
  <dcterms:created xsi:type="dcterms:W3CDTF">2022-09-06T00:17:28Z</dcterms:created>
  <dcterms:modified xsi:type="dcterms:W3CDTF">2026-09-02T10:55:00Z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0x010100D5967FF1E20EF24C9DE80B9F523E2335</vt:lpwstr>
  </property>
</Properties>
</file>